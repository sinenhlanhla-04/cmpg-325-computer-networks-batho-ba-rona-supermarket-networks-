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15F1313-05F4-D997-9810-E9EEE64E7F8D}">
          <p14:sldIdLst>
            <p14:sldId id="256"/>
            <p14:sldId id="257"/>
            <p14:sldId id="266"/>
          </p14:sldIdLst>
        </p14:section>
        <p14:section name="Design" id="{B9738386-705C-CE91-A9D9-6F2F7C150B9F}">
          <p14:sldIdLst>
            <p14:sldId id="259"/>
            <p14:sldId id="260"/>
            <p14:sldId id="261"/>
          </p14:sldIdLst>
        </p14:section>
        <p14:section name="Implementation" id="{895C8AA1-E945-BFFE-DC14-F2C6DEC389D7}">
          <p14:sldIdLst>
            <p14:sldId id="262"/>
            <p14:sldId id="263"/>
            <p14:sldId id="267"/>
            <p14:sldId id="264"/>
          </p14:sldIdLst>
        </p14:section>
        <p14:section name="Close" id="{B1404BA6-7572-FDE9-6A61-D12A8ECCDB6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43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55448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97180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Batho Ba Rona Supermarket  |  CMPG 325  |  CMPG325-2026-015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Batho Ba Rona Supermarket  |  CMPG 325  |  CMPG325-2026-015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ogo badge"/>
          <p:cNvSpPr txBox="1"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BBR</a:t>
            </a:r>
            <a:endParaRPr lang="en-US" sz="2000" dirty="0"/>
          </a:p>
        </p:txBody>
      </p:sp>
      <p:sp>
        <p:nvSpPr>
          <p:cNvPr id="8" name="Text 1"/>
          <p:cNvSpPr>
            <a:spLocks noGrp="1"/>
          </p:cNvSpPr>
          <p:nvPr>
            <p:ph type="title" idx="101" hasCustomPrompt="1"/>
          </p:nvPr>
        </p:nvSpPr>
        <p:spPr>
          <a:xfrm>
            <a:off x="1645920" y="3429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lasassy Caps" pitchFamily="2" charset="0"/>
              </a:rPr>
              <a:t>Batho Ba Rona Supermarket</a:t>
            </a:r>
            <a:endParaRPr lang="en-US" sz="3200" dirty="0">
              <a:latin typeface="Alasassy Caps" pitchFamily="2" charset="0"/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lasassy Caps" pitchFamily="2" charset="0"/>
              </a:rPr>
              <a:t>        Network Design</a:t>
            </a:r>
            <a:endParaRPr lang="en-US" sz="3200" dirty="0">
              <a:latin typeface="Alasassy Caps" pitchFamily="2" charset="0"/>
            </a:endParaRPr>
          </a:p>
        </p:txBody>
      </p:sp>
      <p:sp>
        <p:nvSpPr>
          <p:cNvPr id="9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983442"/>
            <a:ext cx="5852160" cy="117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CMPG 325 Computer Networks Project</a:t>
            </a:r>
          </a:p>
          <a:p>
            <a:pPr marL="0" indent="0" algn="l">
              <a:buNone/>
            </a:pPr>
            <a:endParaRPr lang="en-US" sz="1600" b="1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Project ID CMPG325-2026-015  |  Client ID CLI-015</a:t>
            </a:r>
          </a:p>
          <a:p>
            <a:pPr marL="0" indent="0" algn="l">
              <a:buNone/>
            </a:pPr>
            <a:endParaRPr lang="en-US" sz="1600" b="1" dirty="0">
              <a:solidFill>
                <a:schemeClr val="accent3"/>
              </a:solidFill>
            </a:endParaRPr>
          </a:p>
          <a:p>
            <a:r>
              <a:rPr lang="en-ZA" dirty="0"/>
              <a:t> </a:t>
            </a:r>
            <a:r>
              <a:rPr lang="en-ZA" b="1" dirty="0"/>
              <a:t>Addressing Block: 192.168.17.0/24</a:t>
            </a:r>
            <a:endParaRPr lang="en-US" sz="16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940649-55B4-AEAC-63A6-CD0FDCDB440B}"/>
              </a:ext>
            </a:extLst>
          </p:cNvPr>
          <p:cNvSpPr/>
          <p:nvPr/>
        </p:nvSpPr>
        <p:spPr>
          <a:xfrm>
            <a:off x="457200" y="4066391"/>
            <a:ext cx="4807324" cy="779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3"/>
                </a:solidFill>
              </a:rPr>
              <a:t> </a:t>
            </a:r>
          </a:p>
          <a:p>
            <a:r>
              <a:rPr lang="en-US" b="1" dirty="0">
                <a:solidFill>
                  <a:schemeClr val="tx1">
                    <a:lumMod val="25000"/>
                    <a:lumOff val="75000"/>
                  </a:schemeClr>
                </a:solidFill>
              </a:rPr>
              <a:t>Presented by : Dimba Sinenhlanhla</a:t>
            </a:r>
          </a:p>
          <a:p>
            <a:endParaRPr lang="en-US" b="1" dirty="0">
              <a:solidFill>
                <a:schemeClr val="tx1">
                  <a:lumMod val="25000"/>
                  <a:lumOff val="7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25000"/>
                    <a:lumOff val="75000"/>
                  </a:schemeClr>
                </a:solidFill>
              </a:rPr>
              <a:t> Student number : 42279682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Client and requirements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3" name="Client card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The client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Retail supermarket in Mahikeng serving the local community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Runs on POS transactions, admin staff and staff Wi-Fi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One part-time IT support person manages everything</a:t>
            </a:r>
            <a:endParaRPr lang="en-US" sz="1600" dirty="0"/>
          </a:p>
        </p:txBody>
      </p:sp>
      <p:sp>
        <p:nvSpPr>
          <p:cNvPr id="6" name="Req badge 1"/>
          <p:cNvSpPr txBox="1"/>
          <p:nvPr/>
        </p:nvSpPr>
        <p:spPr>
          <a:xfrm>
            <a:off x="4663440" y="137160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Addressing block 192.168.17.0/24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Assigned by the brief</a:t>
            </a:r>
            <a:endParaRPr lang="en-US" sz="1400" dirty="0"/>
          </a:p>
        </p:txBody>
      </p:sp>
      <p:sp>
        <p:nvSpPr>
          <p:cNvPr id="9" name="Req badge 2"/>
          <p:cNvSpPr txBox="1"/>
          <p:nvPr/>
        </p:nvSpPr>
        <p:spPr>
          <a:xfrm>
            <a:off x="4663440" y="219456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Segment by department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POS, Admin, Wi-Fi/Staff, Server</a:t>
            </a:r>
            <a:endParaRPr lang="en-US" sz="1400" dirty="0"/>
          </a:p>
        </p:txBody>
      </p:sp>
      <p:sp>
        <p:nvSpPr>
          <p:cNvPr id="12" name="Req badge 3"/>
          <p:cNvSpPr txBox="1"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Simple, one-person routing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Static default route to the ISP</a:t>
            </a:r>
            <a:endParaRPr lang="en-US" sz="1400" dirty="0"/>
          </a:p>
        </p:txBody>
      </p:sp>
      <p:sp>
        <p:nvSpPr>
          <p:cNvPr id="15" name="Req badge 4"/>
          <p:cNvSpPr txBox="1"/>
          <p:nvPr/>
        </p:nvSpPr>
        <p:spPr>
          <a:xfrm>
            <a:off x="4663440" y="3840480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CR5: users grow by 25%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No renumbering allowed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21E1E2-BEC2-85C3-3F6E-56FB729BA80E}"/>
              </a:ext>
            </a:extLst>
          </p:cNvPr>
          <p:cNvSpPr/>
          <p:nvPr/>
        </p:nvSpPr>
        <p:spPr>
          <a:xfrm>
            <a:off x="457199" y="4810397"/>
            <a:ext cx="3605349" cy="1632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twork top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Network topology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10" name="Card 10"/>
          <p:cNvSpPr/>
          <p:nvPr/>
        </p:nvSpPr>
        <p:spPr>
          <a:xfrm>
            <a:off x="994744" y="1097280"/>
            <a:ext cx="7154512" cy="3511296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Logical topology" descr="Logical topology of the Batho Ba Rona network: ISP router, edge router, core switch, POS, Admin and Wi-Fi switches with VLANs and gateway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72" y="1207008"/>
            <a:ext cx="6935056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6DFA7-E6F6-48AA-E516-BA509972E533}"/>
              </a:ext>
            </a:extLst>
          </p:cNvPr>
          <p:cNvSpPr/>
          <p:nvPr/>
        </p:nvSpPr>
        <p:spPr>
          <a:xfrm>
            <a:off x="372291" y="4754880"/>
            <a:ext cx="3592286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IP addressing plan (VLSM)</a:t>
            </a:r>
            <a:endParaRPr lang="en-US" sz="3000" dirty="0">
              <a:latin typeface="Alasassy Caps" pitchFamily="2" charset="0"/>
            </a:endParaRPr>
          </a:p>
        </p:txBody>
      </p:sp>
      <p:graphicFrame>
        <p:nvGraphicFramePr>
          <p:cNvPr id="5" name="Address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4688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VLAN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Subnet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Mask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Hosts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Host range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20 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192.168.17.0/27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255.255.255.224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.1 – .30 (GW .1)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30 Wi-Fi/Staff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192.168.17.32/27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255.255.255.224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.33 – .62 (GW .33)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10 POS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192.168.17.64/28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255.255.255.240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.65 – .78 (GW .65)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40 Server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192.168.17.80/29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255.255.255.248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.81 – .86 (GW .81)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WAN Edge-ISP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192.168.17.88/30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255.255.255.252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.89 – .90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One /24 block divided with VLSM; the four VLAN subnets are sized for growth, so unused space remains.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74001-64A1-97F6-EBF7-7B3B6CCB125D}"/>
              </a:ext>
            </a:extLst>
          </p:cNvPr>
          <p:cNvSpPr/>
          <p:nvPr/>
        </p:nvSpPr>
        <p:spPr>
          <a:xfrm>
            <a:off x="457200" y="4800600"/>
            <a:ext cx="3481251" cy="1632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Built-in growth capacity (CR5)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3" name="Growth card POS"/>
          <p:cNvSpPr/>
          <p:nvPr/>
        </p:nvSpPr>
        <p:spPr>
          <a:xfrm>
            <a:off x="457200" y="12801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2"/>
                </a:solidFill>
              </a:rPr>
              <a:t>16</a:t>
            </a:r>
            <a:endParaRPr lang="en-US" sz="6000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9436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planned capacity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10 today, 13 at +25%</a:t>
            </a:r>
            <a:endParaRPr lang="en-US" sz="1400" dirty="0"/>
          </a:p>
        </p:txBody>
      </p:sp>
      <p:sp>
        <p:nvSpPr>
          <p:cNvPr id="8" name="Growth card Admin"/>
          <p:cNvSpPr/>
          <p:nvPr/>
        </p:nvSpPr>
        <p:spPr>
          <a:xfrm>
            <a:off x="2560320" y="12801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6974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Admin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7145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2"/>
                </a:solidFill>
              </a:rPr>
              <a:t>30</a:t>
            </a:r>
            <a:endParaRPr lang="en-US" sz="6000" dirty="0">
              <a:solidFill>
                <a:schemeClr val="bg2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69748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planned capacity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15 today, 19 at +25%</a:t>
            </a:r>
            <a:endParaRPr lang="en-US" sz="1400" dirty="0"/>
          </a:p>
        </p:txBody>
      </p:sp>
      <p:sp>
        <p:nvSpPr>
          <p:cNvPr id="13" name="Growth card Wi-Fi/Staff"/>
          <p:cNvSpPr/>
          <p:nvPr/>
        </p:nvSpPr>
        <p:spPr>
          <a:xfrm>
            <a:off x="4663440" y="12801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0060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Wi-Fi/Staff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2"/>
                </a:solidFill>
              </a:rPr>
              <a:t>30</a:t>
            </a:r>
            <a:endParaRPr lang="en-US" sz="6000" dirty="0">
              <a:solidFill>
                <a:schemeClr val="bg2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80060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planned capacity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 today, 25 at +25%</a:t>
            </a:r>
            <a:endParaRPr lang="en-US" sz="1400" dirty="0"/>
          </a:p>
        </p:txBody>
      </p:sp>
      <p:sp>
        <p:nvSpPr>
          <p:cNvPr id="18" name="Growth card Server"/>
          <p:cNvSpPr/>
          <p:nvPr/>
        </p:nvSpPr>
        <p:spPr>
          <a:xfrm>
            <a:off x="6766560" y="12801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90372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Server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2"/>
                </a:solidFill>
              </a:rPr>
              <a:t>6</a:t>
            </a:r>
            <a:endParaRPr lang="en-US" sz="6000" dirty="0">
              <a:solidFill>
                <a:schemeClr val="bg2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90372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planned capacity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 today, 4 at +25%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New devices simply join existing VLANs. No re-addressing or renumbering is needed.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265897-E611-A53E-B82C-8D0FCAB65564}"/>
              </a:ext>
            </a:extLst>
          </p:cNvPr>
          <p:cNvSpPr/>
          <p:nvPr/>
        </p:nvSpPr>
        <p:spPr>
          <a:xfrm>
            <a:off x="378823" y="4826726"/>
            <a:ext cx="3618411" cy="2024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Why a static default route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3" name="Why card 1"/>
          <p:cNvSpPr/>
          <p:nvPr/>
        </p:nvSpPr>
        <p:spPr>
          <a:xfrm>
            <a:off x="457200" y="1280160"/>
            <a:ext cx="484632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hy badge 1"/>
          <p:cNvSpPr txBox="1"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53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Single ISP connection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733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All traffic not for the internal VLANs can use one next hop.</a:t>
            </a:r>
            <a:endParaRPr lang="en-US" sz="1400" dirty="0"/>
          </a:p>
        </p:txBody>
      </p:sp>
      <p:sp>
        <p:nvSpPr>
          <p:cNvPr id="7" name="Why card 2"/>
          <p:cNvSpPr/>
          <p:nvPr/>
        </p:nvSpPr>
        <p:spPr>
          <a:xfrm>
            <a:off x="457200" y="2377440"/>
            <a:ext cx="484632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Why badge 2"/>
          <p:cNvSpPr txBox="1"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50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Simple to maintain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70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Suits the client's one part-time IT support person; no routing protocol to manage.</a:t>
            </a:r>
            <a:endParaRPr lang="en-US" sz="1400" dirty="0"/>
          </a:p>
        </p:txBody>
      </p:sp>
      <p:sp>
        <p:nvSpPr>
          <p:cNvPr id="11" name="Why card 3"/>
          <p:cNvSpPr/>
          <p:nvPr/>
        </p:nvSpPr>
        <p:spPr>
          <a:xfrm>
            <a:off x="457200" y="3474720"/>
            <a:ext cx="484632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Why badge 3"/>
          <p:cNvSpPr txBox="1"/>
          <p:nvPr/>
        </p:nvSpPr>
        <p:spPr>
          <a:xfrm>
            <a:off x="640080" y="3730752"/>
            <a:ext cx="457200" cy="45720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Small, fixed design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679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Four VLANs that are easy to document and support.</a:t>
            </a:r>
            <a:endParaRPr lang="en-US" sz="1400" dirty="0"/>
          </a:p>
        </p:txBody>
      </p:sp>
      <p:sp>
        <p:nvSpPr>
          <p:cNvPr id="15" name="Route card"/>
          <p:cNvSpPr/>
          <p:nvPr/>
        </p:nvSpPr>
        <p:spPr>
          <a:xfrm>
            <a:off x="5577840" y="1280160"/>
            <a:ext cx="3108960" cy="3154680"/>
          </a:xfrm>
          <a:prstGeom prst="roundRect">
            <a:avLst>
              <a:gd name="adj" fmla="val 29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76072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0.0.0.0/0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3774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Any traffic not destined for a local subnet is forwarded to the ISP router at 192.168.17.89.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 type: S*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A35FF4-ACE9-6C22-1025-D97898F745CC}"/>
              </a:ext>
            </a:extLst>
          </p:cNvPr>
          <p:cNvSpPr/>
          <p:nvPr/>
        </p:nvSpPr>
        <p:spPr>
          <a:xfrm>
            <a:off x="457200" y="4807131"/>
            <a:ext cx="3546566" cy="1763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Default route configuration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3" name="Edge card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BBR-EDGE-RTR</a:t>
            </a:r>
            <a:endParaRPr lang="en-US" sz="15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GigabitEthernet0/1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192.168.17.90 255.255.255.252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0.0.0.0 0.0.0.0 192.168.17.89</a:t>
            </a:r>
            <a:endParaRPr lang="en-US" sz="1400" dirty="0"/>
          </a:p>
        </p:txBody>
      </p:sp>
      <p:sp>
        <p:nvSpPr>
          <p:cNvPr id="6" name="ISP card"/>
          <p:cNvSpPr/>
          <p:nvPr/>
        </p:nvSpPr>
        <p:spPr>
          <a:xfrm>
            <a:off x="457200" y="2697480"/>
            <a:ext cx="822960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ISP-RTR</a:t>
            </a:r>
            <a:endParaRPr lang="en-US" sz="15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GigabitEthernet0/0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192.168.17.89 255.255.255.252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192.168.17.0 255.255.255.0 192.168.17.90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44B67B-DF18-E075-9CD2-8341EF886F71}"/>
              </a:ext>
            </a:extLst>
          </p:cNvPr>
          <p:cNvSpPr/>
          <p:nvPr/>
        </p:nvSpPr>
        <p:spPr>
          <a:xfrm>
            <a:off x="411480" y="4807131"/>
            <a:ext cx="3566160" cy="2220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Connectivity verified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3" name="Test card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st badge 1"/>
          <p:cNvSpPr txBox="1"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Edge router to ISP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Ping 5/5 (100%) to 192.168.17.89; traceroute reaches it in 1 hop.</a:t>
            </a:r>
            <a:endParaRPr lang="en-US" sz="1400" dirty="0"/>
          </a:p>
        </p:txBody>
      </p:sp>
      <p:sp>
        <p:nvSpPr>
          <p:cNvPr id="7" name="Test card 2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st badge 2"/>
          <p:cNvSpPr txBox="1"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POS-PC1 (VLAN 10)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0% loss to gateway .65; 2 hops to the ISP via .65.</a:t>
            </a:r>
            <a:endParaRPr lang="en-US" sz="1400" dirty="0"/>
          </a:p>
        </p:txBody>
      </p:sp>
      <p:sp>
        <p:nvSpPr>
          <p:cNvPr id="11" name="Test card 3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st badge 3"/>
          <p:cNvSpPr txBox="1"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ADMIN-PC1 (VLAN 20)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0% loss to the ISP; 2 hops via Admin gateway .1.</a:t>
            </a:r>
            <a:endParaRPr lang="en-US" sz="1400" dirty="0"/>
          </a:p>
        </p:txBody>
      </p:sp>
      <p:sp>
        <p:nvSpPr>
          <p:cNvPr id="15" name="Test card 4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st badge 4"/>
          <p:cNvSpPr txBox="1"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STAFF-LAPTOP (VLAN 30)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0% loss to the ISP via BBR-AP; 2 hops via gateway .33.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6DFA7-E6F6-48AA-E516-BA509972E533}"/>
              </a:ext>
            </a:extLst>
          </p:cNvPr>
          <p:cNvSpPr/>
          <p:nvPr/>
        </p:nvSpPr>
        <p:spPr>
          <a:xfrm>
            <a:off x="372291" y="4754880"/>
            <a:ext cx="3592286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nectivity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Connectivity verified: evidence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11" name="Label 11"/>
          <p:cNvSpPr txBox="1"/>
          <p:nvPr/>
        </p:nvSpPr>
        <p:spPr>
          <a:xfrm>
            <a:off x="457200" y="10515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POS-PC1 (VLAN 10)</a:t>
            </a:r>
          </a:p>
        </p:txBody>
      </p:sp>
      <p:pic>
        <p:nvPicPr>
          <p:cNvPr id="12" name="Screenshot 6" descr="POS-PC1 ping to gateway 192.168.17.65, 0% lo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9304"/>
            <a:ext cx="2468880" cy="1050709"/>
          </a:xfrm>
          <a:prstGeom prst="rect">
            <a:avLst/>
          </a:prstGeom>
          <a:ln w="9525">
            <a:solidFill>
              <a:schemeClr val="accent3"/>
            </a:solidFill>
          </a:ln>
        </p:spPr>
      </p:pic>
      <p:pic>
        <p:nvPicPr>
          <p:cNvPr id="13" name="Screenshot 4" descr="POS-PC1 ping to ISP router, 0% l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3165"/>
            <a:ext cx="2468880" cy="792338"/>
          </a:xfrm>
          <a:prstGeom prst="rect">
            <a:avLst/>
          </a:prstGeom>
          <a:ln w="9525">
            <a:solidFill>
              <a:schemeClr val="accent3"/>
            </a:solidFill>
          </a:ln>
        </p:spPr>
      </p:pic>
      <p:pic>
        <p:nvPicPr>
          <p:cNvPr id="14" name="Screenshot 5" descr="POS-PC1 traceroute to ISP router via 192.168.17.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78656"/>
            <a:ext cx="2468880" cy="593582"/>
          </a:xfrm>
          <a:prstGeom prst="rect">
            <a:avLst/>
          </a:prstGeom>
          <a:ln w="9525">
            <a:solidFill>
              <a:schemeClr val="accent3"/>
            </a:solidFill>
          </a:ln>
        </p:spPr>
      </p:pic>
      <p:sp>
        <p:nvSpPr>
          <p:cNvPr id="15" name="Label 15"/>
          <p:cNvSpPr txBox="1"/>
          <p:nvPr/>
        </p:nvSpPr>
        <p:spPr>
          <a:xfrm>
            <a:off x="3063240" y="10515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Edge router to ISP</a:t>
            </a:r>
          </a:p>
        </p:txBody>
      </p:sp>
      <p:pic>
        <p:nvPicPr>
          <p:cNvPr id="16" name="Screenshot 2" descr="Edge router ping to ISP router, 5/5 succ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1289304"/>
            <a:ext cx="2468880" cy="429031"/>
          </a:xfrm>
          <a:prstGeom prst="rect">
            <a:avLst/>
          </a:prstGeom>
          <a:ln w="9525">
            <a:solidFill>
              <a:schemeClr val="accent3"/>
            </a:solidFill>
          </a:ln>
        </p:spPr>
      </p:pic>
      <p:pic>
        <p:nvPicPr>
          <p:cNvPr id="17" name="Screenshot 3" descr="Edge router traceroute to ISP router, 1 h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1791487"/>
            <a:ext cx="2468880" cy="680447"/>
          </a:xfrm>
          <a:prstGeom prst="rect">
            <a:avLst/>
          </a:prstGeom>
          <a:ln w="9525">
            <a:solidFill>
              <a:schemeClr val="accent3"/>
            </a:solidFill>
          </a:ln>
        </p:spPr>
      </p:pic>
      <p:sp>
        <p:nvSpPr>
          <p:cNvPr id="18" name="Label 18"/>
          <p:cNvSpPr txBox="1"/>
          <p:nvPr/>
        </p:nvSpPr>
        <p:spPr>
          <a:xfrm>
            <a:off x="3063240" y="2609095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ADMIN-PC1 (VLAN 20)</a:t>
            </a:r>
          </a:p>
        </p:txBody>
      </p:sp>
      <p:pic>
        <p:nvPicPr>
          <p:cNvPr id="19" name="Screenshot 7" descr="ADMIN-PC1 ping and traceroute to ISP router via 192.168.17.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240" y="2846839"/>
            <a:ext cx="2468880" cy="1475426"/>
          </a:xfrm>
          <a:prstGeom prst="rect">
            <a:avLst/>
          </a:prstGeom>
          <a:ln w="9525">
            <a:solidFill>
              <a:schemeClr val="accent3"/>
            </a:solidFill>
          </a:ln>
        </p:spPr>
      </p:pic>
      <p:sp>
        <p:nvSpPr>
          <p:cNvPr id="20" name="Label 20"/>
          <p:cNvSpPr txBox="1"/>
          <p:nvPr/>
        </p:nvSpPr>
        <p:spPr>
          <a:xfrm>
            <a:off x="5669280" y="1051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STAFF-LAPTOP (VLAN 30)</a:t>
            </a:r>
          </a:p>
        </p:txBody>
      </p:sp>
      <p:pic>
        <p:nvPicPr>
          <p:cNvPr id="21" name="Screenshot 8" descr="STAFF-LAPTOP ping and traceroute to ISP router via 192.168.17.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0" y="1289304"/>
            <a:ext cx="3017520" cy="2480725"/>
          </a:xfrm>
          <a:prstGeom prst="rect">
            <a:avLst/>
          </a:prstGeom>
          <a:ln w="9525">
            <a:solidFill>
              <a:schemeClr val="accent3"/>
            </a:solidFill>
          </a:ln>
        </p:spPr>
      </p:pic>
      <p:sp>
        <p:nvSpPr>
          <p:cNvPr id="22" name="Card 22"/>
          <p:cNvSpPr/>
          <p:nvPr/>
        </p:nvSpPr>
        <p:spPr>
          <a:xfrm>
            <a:off x="5669280" y="3934621"/>
            <a:ext cx="3017520" cy="5486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9728" tIns="45720" rIns="109728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All paths reach the ISP router (192.168.17.89) with 0% packet loss.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A8A6DFA7-E6F6-48AA-E516-BA509972E533}"/>
              </a:ext>
            </a:extLst>
          </p:cNvPr>
          <p:cNvSpPr/>
          <p:nvPr/>
        </p:nvSpPr>
        <p:spPr>
          <a:xfrm>
            <a:off x="372291" y="4754880"/>
            <a:ext cx="3592286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Alasassy Caps" pitchFamily="2" charset="0"/>
              </a:rPr>
              <a:t>Troubleshooting</a:t>
            </a:r>
            <a:endParaRPr lang="en-US" sz="3000" dirty="0">
              <a:latin typeface="Alasassy Caps" pitchFamily="2" charset="0"/>
            </a:endParaRPr>
          </a:p>
        </p:txBody>
      </p:sp>
      <p:sp>
        <p:nvSpPr>
          <p:cNvPr id="3" name="Issue card 1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ssue badge 1"/>
          <p:cNvSpPr txBox="1"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POS switch disconnected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Cable between SW-POS and the core was lost. Found with show interfaces status; reconnected Fa0/1 to Fa0/2.</a:t>
            </a:r>
            <a:endParaRPr lang="en-US" sz="1400" dirty="0"/>
          </a:p>
        </p:txBody>
      </p:sp>
      <p:sp>
        <p:nvSpPr>
          <p:cNvPr id="7" name="Issue card 2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ssue badge 2"/>
          <p:cNvSpPr txBox="1"/>
          <p:nvPr/>
        </p:nvSpPr>
        <p:spPr>
          <a:xfrm>
            <a:off x="4846320" y="1371600"/>
            <a:ext cx="365760" cy="36576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ISP router not configured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Pings failed until its interface and return route to 192.168.17.0/24 were added.</a:t>
            </a:r>
            <a:endParaRPr lang="en-US" sz="1400" dirty="0"/>
          </a:p>
        </p:txBody>
      </p:sp>
      <p:sp>
        <p:nvSpPr>
          <p:cNvPr id="11" name="Issue card 3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ssue badge 3"/>
          <p:cNvSpPr txBox="1"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First-ping timeouts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ARP was still resolving the neighbour's MAC. Repeating the ping gave 100%.</a:t>
            </a:r>
            <a:endParaRPr lang="en-US" sz="1400" dirty="0"/>
          </a:p>
        </p:txBody>
      </p:sp>
      <p:sp>
        <p:nvSpPr>
          <p:cNvPr id="15" name="Issue card 4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ssue badge 4"/>
          <p:cNvSpPr txBox="1"/>
          <p:nvPr/>
        </p:nvSpPr>
        <p:spPr>
          <a:xfrm>
            <a:off x="4846320" y="3063240"/>
            <a:ext cx="365760" cy="365760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Wi-Fi VLAN unreachable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Core port Fa0/4 was an access port in VLAN 1. Reconfigured as a trunk allowing VLAN 30.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7B559C-C49F-BC36-00FE-99D08A1230B8}"/>
              </a:ext>
            </a:extLst>
          </p:cNvPr>
          <p:cNvSpPr/>
          <p:nvPr/>
        </p:nvSpPr>
        <p:spPr>
          <a:xfrm>
            <a:off x="378823" y="4754880"/>
            <a:ext cx="3566160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3600" dirty="0">
                <a:latin typeface="Alasassy Caps" pitchFamily="2" charset="0"/>
              </a:rPr>
              <a:t>Conclusion </a:t>
            </a:r>
            <a:endParaRPr lang="en-US" sz="3600" dirty="0">
              <a:latin typeface="Alasassy Caps" pitchFamily="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D96C01-7403-6108-86C0-04A355248963}"/>
              </a:ext>
            </a:extLst>
          </p:cNvPr>
          <p:cNvSpPr/>
          <p:nvPr/>
        </p:nvSpPr>
        <p:spPr>
          <a:xfrm>
            <a:off x="1251626" y="3800272"/>
            <a:ext cx="5920902" cy="895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rial Rounded MT Bold" panose="020F0704030504030204" pitchFamily="34" charset="0"/>
                <a:cs typeface="Angsana New" panose="020B0502040204020203" pitchFamily="18" charset="-34"/>
              </a:rPr>
              <a:t>     THANK YOU </a:t>
            </a:r>
            <a:endParaRPr lang="en-US" sz="4000" dirty="0">
              <a:solidFill>
                <a:schemeClr val="accent3">
                  <a:lumMod val="75000"/>
                </a:schemeClr>
              </a:solidFill>
              <a:latin typeface="Arial Rounded MT Bold" panose="020F0704030504030204" pitchFamily="34" charset="0"/>
              <a:cs typeface="Angsana New" panose="020B0502040204020203" pitchFamily="18" charset="-34"/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A122C55F-BC27-BE2B-BF6E-4931156B03BB}"/>
              </a:ext>
            </a:extLst>
          </p:cNvPr>
          <p:cNvSpPr/>
          <p:nvPr/>
        </p:nvSpPr>
        <p:spPr>
          <a:xfrm>
            <a:off x="920931" y="1463040"/>
            <a:ext cx="2416629" cy="2337232"/>
          </a:xfrm>
          <a:prstGeom prst="flowChartAlternateProcess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 built a network for Batho Ba Rona Supermarket in Cisco Packet Tracer.</a:t>
            </a:r>
          </a:p>
          <a:p>
            <a:pPr algn="ctr"/>
            <a:r>
              <a:rPr lang="en-US" sz="1200" dirty="0"/>
              <a:t> The 192.168.17.0/24 block was split into four VLANs (POS, Admin, Wi-Fi/Staff and Server) plus a WAN link to the ISP.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A9F249-C14D-0EF1-486B-984F690392E5}"/>
              </a:ext>
            </a:extLst>
          </p:cNvPr>
          <p:cNvSpPr/>
          <p:nvPr/>
        </p:nvSpPr>
        <p:spPr>
          <a:xfrm>
            <a:off x="3618411" y="1463040"/>
            <a:ext cx="2414382" cy="2286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One static default route on the edge router (to 192.168.17.89) suits the shop’s single ISP connection and its one part-time IT person. Ping and traceroute confirmed that the POS, Admin and Wi-Fi/Staff VLANs all reach the ISP.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FC0D54-C5E6-6A4E-6AE5-F0DBC4F857D2}"/>
              </a:ext>
            </a:extLst>
          </p:cNvPr>
          <p:cNvSpPr/>
          <p:nvPr/>
        </p:nvSpPr>
        <p:spPr>
          <a:xfrm>
            <a:off x="6352833" y="1463040"/>
            <a:ext cx="2414382" cy="2286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I fixed three faults along the way: a disconnected cable, a missing ISP return route and a trunk port without VLAN 30. The subnets also leave room for the 25% user growth without renumbering.</a:t>
            </a:r>
            <a:endParaRPr lang="en-US" sz="1200" dirty="0"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tho Ba Rona">
  <a:themeElements>
    <a:clrScheme name="Batho Ba Rona">
      <a:dk1>
        <a:srgbClr val="06142E"/>
      </a:dk1>
      <a:lt1>
        <a:srgbClr val="FFFFFF"/>
      </a:lt1>
      <a:dk2>
        <a:srgbClr val="0A1F44"/>
      </a:dk2>
      <a:lt2>
        <a:srgbClr val="DCE9F8"/>
      </a:lt2>
      <a:accent1>
        <a:srgbClr val="2F6FB5"/>
      </a:accent1>
      <a:accent2>
        <a:srgbClr val="F2A900"/>
      </a:accent2>
      <a:accent3>
        <a:srgbClr val="8FBDEB"/>
      </a:accent3>
      <a:accent4>
        <a:srgbClr val="BFD9F5"/>
      </a:accent4>
      <a:accent5>
        <a:srgbClr val="16306A"/>
      </a:accent5>
      <a:accent6>
        <a:srgbClr val="8FA6C8"/>
      </a:accent6>
      <a:hlink>
        <a:srgbClr val="8FBDEB"/>
      </a:hlink>
      <a:folHlink>
        <a:srgbClr val="BFD9F5"/>
      </a:folHlink>
    </a:clrScheme>
    <a:fontScheme name="Batho Ba Ro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751</Words>
  <Application>Microsoft Office PowerPoint</Application>
  <PresentationFormat>On-screen Show (16:9)</PresentationFormat>
  <Paragraphs>158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Alasassy Caps</vt:lpstr>
      <vt:lpstr>Arial</vt:lpstr>
      <vt:lpstr>Arial Rounded MT Bold</vt:lpstr>
      <vt:lpstr>Calibri</vt:lpstr>
      <vt:lpstr>Courier New</vt:lpstr>
      <vt:lpstr>Batho Ba Rona</vt:lpstr>
      <vt:lpstr>Batho Ba Rona Supermarket         Network Design</vt:lpstr>
      <vt:lpstr>Client and requirements</vt:lpstr>
      <vt:lpstr>Network topology</vt:lpstr>
      <vt:lpstr>IP addressing plan (VLSM)</vt:lpstr>
      <vt:lpstr>Built-in growth capacity (CR5)</vt:lpstr>
      <vt:lpstr>Why a static default route</vt:lpstr>
      <vt:lpstr>Default route configuration</vt:lpstr>
      <vt:lpstr>Connectivity verified</vt:lpstr>
      <vt:lpstr>Connectivity verified: evidence</vt:lpstr>
      <vt:lpstr>Troubleshooting</vt:lpstr>
      <vt:lpstr>Conclusion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Batho Ba Rona Supermarket — Network Design, Milestone 2</dc:title>
  <dc:subject>PptxGenJS Presentation</dc:subject>
  <dc:creator>CMPG 325</dc:creator>
  <cp:lastModifiedBy>42279682 S</cp:lastModifiedBy>
  <cp:revision>4</cp:revision>
  <dcterms:created xsi:type="dcterms:W3CDTF">2026-10-13T20:27:44Z</dcterms:created>
  <dcterms:modified xsi:type="dcterms:W3CDTF">2026-10-16T11:50:28Z</dcterms:modified>
</cp:coreProperties>
</file>